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  <p:sldMasterId id="2147483672" r:id="rId2"/>
  </p:sldMasterIdLst>
  <p:notesMasterIdLst>
    <p:notesMasterId r:id="rId14"/>
  </p:notesMasterIdLst>
  <p:sldIdLst>
    <p:sldId id="7888" r:id="rId3"/>
    <p:sldId id="273" r:id="rId4"/>
    <p:sldId id="257" r:id="rId5"/>
    <p:sldId id="7924" r:id="rId6"/>
    <p:sldId id="289" r:id="rId7"/>
    <p:sldId id="259" r:id="rId8"/>
    <p:sldId id="290" r:id="rId9"/>
    <p:sldId id="8408" r:id="rId10"/>
    <p:sldId id="1242" r:id="rId11"/>
    <p:sldId id="7771" r:id="rId12"/>
    <p:sldId id="7780" r:id="rId13"/>
  </p:sldIdLst>
  <p:sldSz cx="12192000" cy="6858000"/>
  <p:notesSz cx="6858000" cy="9144000"/>
  <p:embeddedFontLst>
    <p:embeddedFont>
      <p:font typeface="Nunito ExtraBold" pitchFamily="2" charset="77"/>
      <p:bold r:id="rId15"/>
      <p:italic r:id="rId16"/>
      <p:boldItalic r:id="rId17"/>
    </p:embeddedFont>
    <p:embeddedFont>
      <p:font typeface="Nunito SemiBold" pitchFamily="2" charset="77"/>
      <p:regular r:id="rId18"/>
      <p:bold r:id="rId19"/>
      <p:italic r:id="rId20"/>
      <p:boldItalic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1118"/>
    <p:restoredTop sz="85954"/>
  </p:normalViewPr>
  <p:slideViewPr>
    <p:cSldViewPr snapToGrid="0">
      <p:cViewPr varScale="1">
        <p:scale>
          <a:sx n="93" d="100"/>
          <a:sy n="93" d="100"/>
        </p:scale>
        <p:origin x="216" y="272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4.fntdata"/><Relationship Id="rId3" Type="http://schemas.openxmlformats.org/officeDocument/2006/relationships/slide" Target="slides/slide1.xml"/><Relationship Id="rId21" Type="http://schemas.openxmlformats.org/officeDocument/2006/relationships/font" Target="fonts/font7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5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4/6/26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3370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29EC3-8E50-0914-6B9A-76189787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AA56A-C86F-5378-F7C5-100A40A35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5911-23FB-06F0-0015-A59CA27C0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E63F6-8119-C63B-7C93-5CD77CDAC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8837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21456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F08D-B5EC-616A-8FB8-4BDC838D1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30004A-BB7A-A14D-1ACA-0218E32E71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368228-077C-3DAD-80CC-258A32B32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81FB0-7224-0F49-C613-2CF3903583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CE1FDEF-951E-45B8-8164-F87C0E1F599F}" type="slidenum">
              <a:rPr kumimoji="0" lang="es-E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s-E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82197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940908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11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781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0607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19871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0890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5685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81903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55790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5955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43918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1281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628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4/6/26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28CA476-8D6C-47BB-9FE5-A61BE27680E7}" type="datetimeFigureOut">
              <a:rPr lang="en-US" smtClean="0"/>
              <a:t>4/6/26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01FC5AF-97A4-450C-B8AB-530E667340A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004590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4EABF2B-F41D-ECA0-0FB6-5F20262E776A}"/>
              </a:ext>
            </a:extLst>
          </p:cNvPr>
          <p:cNvSpPr txBox="1"/>
          <p:nvPr/>
        </p:nvSpPr>
        <p:spPr>
          <a:xfrm>
            <a:off x="680847" y="525288"/>
            <a:ext cx="6832198" cy="39701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</a:t>
            </a: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SEVENTH DAY ADVENTIST CHURCH </a:t>
            </a:r>
          </a:p>
        </p:txBody>
      </p:sp>
      <p:sp>
        <p:nvSpPr>
          <p:cNvPr id="5" name="starting at text">
            <a:extLst>
              <a:ext uri="{FF2B5EF4-FFF2-40B4-BE49-F238E27FC236}">
                <a16:creationId xmlns:a16="http://schemas.microsoft.com/office/drawing/2014/main" id="{BB80DF60-B11C-9608-A6E5-910DAA70552C}"/>
              </a:ext>
            </a:extLst>
          </p:cNvPr>
          <p:cNvSpPr txBox="1"/>
          <p:nvPr/>
        </p:nvSpPr>
        <p:spPr>
          <a:xfrm>
            <a:off x="680847" y="5755854"/>
            <a:ext cx="5225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S</a:t>
            </a:r>
            <a:r>
              <a:rPr kumimoji="0" lang="en-US" sz="3200" b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t</a:t>
            </a: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arting at 10:45 am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A485C30-3470-66E3-759D-FD5C090CF1FA}"/>
              </a:ext>
            </a:extLst>
          </p:cNvPr>
          <p:cNvSpPr txBox="1"/>
          <p:nvPr/>
        </p:nvSpPr>
        <p:spPr>
          <a:xfrm>
            <a:off x="5783371" y="5755854"/>
            <a:ext cx="5727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buClr>
                <a:srgbClr val="000000"/>
              </a:buClr>
              <a:defRPr/>
            </a:pP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24</a:t>
            </a:r>
            <a:r>
              <a:rPr lang="en-GB" sz="3200" b="1" baseline="30000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th</a:t>
            </a: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 January 2026</a:t>
            </a:r>
            <a:endParaRPr kumimoji="0" lang="en-BE" sz="3200" b="1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unito Extra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B8817C9-F47E-9C65-129F-E6F419C0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42516" y="1079792"/>
            <a:ext cx="3768637" cy="376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9358811" y="177973"/>
            <a:ext cx="2652916" cy="42271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r"/>
            <a:r>
              <a:rPr lang="en-BE" sz="2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</a:t>
            </a:r>
            <a:r>
              <a:rPr lang="en-BE" sz="2000" b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with caption</a:t>
            </a:r>
            <a:endParaRPr lang="en-BE" sz="20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C2485-0717-8D32-1019-4928F237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4A4EF1-0AC4-7BAD-1880-AF59671ABCC1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Title with logo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5562F14-617D-DBFA-E2E8-F01177F7FD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4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457200" y="0"/>
            <a:ext cx="112776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82BC0B-17C3-9938-E079-6E6DC34B9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DE20F90-BCFF-AEDC-090F-8E36223CDC4A}"/>
              </a:ext>
            </a:extLst>
          </p:cNvPr>
          <p:cNvSpPr txBox="1">
            <a:spLocks/>
          </p:cNvSpPr>
          <p:nvPr/>
        </p:nvSpPr>
        <p:spPr>
          <a:xfrm>
            <a:off x="525778" y="598835"/>
            <a:ext cx="11140442" cy="13285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40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Staatliches"/>
              </a:rPr>
              <a:t>Donations, Tithes and offerings may be transferred to the ISDA church account</a:t>
            </a:r>
            <a:endParaRPr kumimoji="0" lang="en-GB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Roboto"/>
              <a:cs typeface="Roboto"/>
              <a:sym typeface="Roboto"/>
            </a:endParaRP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5C1FEA24-5D83-920F-FBB4-AF647538077D}"/>
              </a:ext>
            </a:extLst>
          </p:cNvPr>
          <p:cNvSpPr/>
          <p:nvPr/>
        </p:nvSpPr>
        <p:spPr>
          <a:xfrm>
            <a:off x="1562060" y="2125483"/>
            <a:ext cx="9067880" cy="1188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5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5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2DCA51A8-82B6-0454-7AEB-BAB0EA340704}"/>
              </a:ext>
            </a:extLst>
          </p:cNvPr>
          <p:cNvSpPr txBox="1"/>
          <p:nvPr/>
        </p:nvSpPr>
        <p:spPr>
          <a:xfrm>
            <a:off x="355488" y="3511919"/>
            <a:ext cx="11481023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Roboto"/>
              </a:rPr>
              <a:t>Please indicate in Communication :</a:t>
            </a:r>
            <a:endParaRPr kumimoji="0" sz="32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Tx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Roboto"/>
              </a:rPr>
              <a:t> Tithe or Offerings or Donations (mortgage)</a:t>
            </a:r>
            <a:endParaRPr kumimoji="0" sz="32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01DE52E6-610E-1DDA-2EFC-571E2C3A404F}"/>
              </a:ext>
            </a:extLst>
          </p:cNvPr>
          <p:cNvSpPr txBox="1"/>
          <p:nvPr/>
        </p:nvSpPr>
        <p:spPr>
          <a:xfrm>
            <a:off x="2064327" y="5058877"/>
            <a:ext cx="8063344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Today’s unallocated offerings will go towards </a:t>
            </a:r>
            <a:r>
              <a:rPr kumimoji="0" lang="en-GB" sz="32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</a:p>
        </p:txBody>
      </p:sp>
    </p:spTree>
    <p:extLst>
      <p:ext uri="{BB962C8B-B14F-4D97-AF65-F5344CB8AC3E}">
        <p14:creationId xmlns:p14="http://schemas.microsoft.com/office/powerpoint/2010/main" val="18000528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7C2B1D2E-8215-FE78-04B1-9804A4B2C868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2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Donations, Tithes and offerings may be transferred to the ISDA church account </a:t>
            </a:r>
            <a:endParaRPr kumimoji="0" lang="en-GB" sz="2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Roboto"/>
              <a:cs typeface="Roboto"/>
              <a:sym typeface="Roboto"/>
            </a:endParaRP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06B6850A-DB78-60A9-E6D6-97BC9D59C2B4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BA9FBC8C-06AD-0FBD-67F6-9DA1F0D3A1DC}"/>
              </a:ext>
            </a:extLst>
          </p:cNvPr>
          <p:cNvSpPr txBox="1"/>
          <p:nvPr/>
        </p:nvSpPr>
        <p:spPr>
          <a:xfrm>
            <a:off x="0" y="3327244"/>
            <a:ext cx="609599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Please indicate in Communication :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 Tithe or Offerings or Donations</a:t>
            </a: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(mortgage)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EA3929B7-3CA9-9B0A-EC06-885F3B13A4F0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76A8D165-5560-4677-8543-AF7D0B7FDF74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with a grateful  heart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to the Holy 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Give thanks because He's given Jesus Christ, His Son</a:t>
            </a:r>
          </a:p>
        </p:txBody>
      </p:sp>
    </p:spTree>
    <p:extLst>
      <p:ext uri="{BB962C8B-B14F-4D97-AF65-F5344CB8AC3E}">
        <p14:creationId xmlns:p14="http://schemas.microsoft.com/office/powerpoint/2010/main" val="1717603460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86BA86-B6F9-F48D-BBFF-761EF964C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scription">
            <a:extLst>
              <a:ext uri="{FF2B5EF4-FFF2-40B4-BE49-F238E27FC236}">
                <a16:creationId xmlns:a16="http://schemas.microsoft.com/office/drawing/2014/main" id="{9509C28D-FA4C-A6CB-B7B7-DB0C07464B33}"/>
              </a:ext>
            </a:extLst>
          </p:cNvPr>
          <p:cNvSpPr txBox="1">
            <a:spLocks/>
          </p:cNvSpPr>
          <p:nvPr/>
        </p:nvSpPr>
        <p:spPr>
          <a:xfrm>
            <a:off x="-1" y="620567"/>
            <a:ext cx="6095999" cy="1674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r>
              <a:rPr kumimoji="0" lang="en-GB" sz="28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cs typeface="Calibri Light" panose="020F0302020204030204" pitchFamily="34" charset="0"/>
                <a:sym typeface="Staatliches"/>
              </a:rPr>
              <a:t>Donations, Tithes and offerings may be transferred to the ISDA church account </a:t>
            </a:r>
            <a:endParaRPr kumimoji="0" lang="en-GB" sz="28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36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cs typeface="Arial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tabLst/>
              <a:defRPr/>
            </a:pPr>
            <a:endParaRPr kumimoji="0" lang="en-GB" sz="20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SemiBold" pitchFamily="2" charset="77"/>
              <a:ea typeface="Roboto"/>
              <a:cs typeface="Roboto"/>
              <a:sym typeface="Roboto"/>
            </a:endParaRPr>
          </a:p>
        </p:txBody>
      </p:sp>
      <p:sp>
        <p:nvSpPr>
          <p:cNvPr id="3" name="details">
            <a:extLst>
              <a:ext uri="{FF2B5EF4-FFF2-40B4-BE49-F238E27FC236}">
                <a16:creationId xmlns:a16="http://schemas.microsoft.com/office/drawing/2014/main" id="{AD5F3A2B-157E-076C-9D3C-D2D4AA74947D}"/>
              </a:ext>
            </a:extLst>
          </p:cNvPr>
          <p:cNvSpPr/>
          <p:nvPr/>
        </p:nvSpPr>
        <p:spPr>
          <a:xfrm>
            <a:off x="-1" y="2247515"/>
            <a:ext cx="6095999" cy="837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  <a:tabLst/>
              <a:defRPr/>
            </a:pPr>
            <a:r>
              <a:rPr kumimoji="0" lang="en-GB" sz="36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Century Gothic"/>
                <a:cs typeface="Century Gothic"/>
                <a:sym typeface="Century Gothic"/>
              </a:rPr>
              <a:t>BE97 3101 7459 6349</a:t>
            </a:r>
            <a:endParaRPr kumimoji="0" sz="1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unito ExtraBold" pitchFamily="2" charset="77"/>
              <a:ea typeface="+mn-ea"/>
              <a:cs typeface="Arial"/>
              <a:sym typeface="Arial"/>
            </a:endParaRPr>
          </a:p>
        </p:txBody>
      </p:sp>
      <p:sp>
        <p:nvSpPr>
          <p:cNvPr id="5" name="communication">
            <a:extLst>
              <a:ext uri="{FF2B5EF4-FFF2-40B4-BE49-F238E27FC236}">
                <a16:creationId xmlns:a16="http://schemas.microsoft.com/office/drawing/2014/main" id="{070951C2-FE32-228B-8B3F-4CBFC3FBDFCA}"/>
              </a:ext>
            </a:extLst>
          </p:cNvPr>
          <p:cNvSpPr txBox="1"/>
          <p:nvPr/>
        </p:nvSpPr>
        <p:spPr>
          <a:xfrm>
            <a:off x="0" y="3327244"/>
            <a:ext cx="609599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Please indicate in Communication :</a:t>
            </a:r>
            <a:endParaRPr kumimoji="0" sz="2400" b="1" i="0" u="none" strike="noStrike" kern="0" cap="none" spc="0" normalizeH="0" baseline="0" noProof="0" dirty="0">
              <a:ln>
                <a:noFill/>
              </a:ln>
              <a:solidFill>
                <a:srgbClr val="F2DB84"/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Arial"/>
            </a:endParaRP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 Tithe or Offerings or Donations</a:t>
            </a:r>
          </a:p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F2DB84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(mortgage)</a:t>
            </a:r>
          </a:p>
        </p:txBody>
      </p:sp>
      <p:sp>
        <p:nvSpPr>
          <p:cNvPr id="6" name="unallocated_offerings">
            <a:extLst>
              <a:ext uri="{FF2B5EF4-FFF2-40B4-BE49-F238E27FC236}">
                <a16:creationId xmlns:a16="http://schemas.microsoft.com/office/drawing/2014/main" id="{3E2F70C2-046C-EC83-99C1-627A25F6041D}"/>
              </a:ext>
            </a:extLst>
          </p:cNvPr>
          <p:cNvSpPr txBox="1"/>
          <p:nvPr/>
        </p:nvSpPr>
        <p:spPr>
          <a:xfrm>
            <a:off x="0" y="5098478"/>
            <a:ext cx="609599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430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SemiBold" pitchFamily="2" charset="77"/>
                <a:ea typeface="+mn-ea"/>
                <a:cs typeface="Calibri Light" panose="020F0302020204030204" pitchFamily="34" charset="0"/>
                <a:sym typeface="Roboto"/>
              </a:rPr>
              <a:t>Today’s unallocated offerings will go towards </a:t>
            </a: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4EA72E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Roboto"/>
              </a:rPr>
              <a:t>Combined Budget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srgbClr val="4EA72E">
                  <a:lumMod val="20000"/>
                  <a:lumOff val="80000"/>
                </a:srgbClr>
              </a:solidFill>
              <a:effectLst/>
              <a:uLnTx/>
              <a:uFillTx/>
              <a:latin typeface="Nunito SemiBold" pitchFamily="2" charset="77"/>
              <a:ea typeface="+mn-ea"/>
              <a:cs typeface="Calibri Light" panose="020F0302020204030204" pitchFamily="34" charset="0"/>
              <a:sym typeface="Roboto"/>
            </a:endParaRPr>
          </a:p>
        </p:txBody>
      </p:sp>
      <p:sp>
        <p:nvSpPr>
          <p:cNvPr id="12" name="text">
            <a:extLst>
              <a:ext uri="{FF2B5EF4-FFF2-40B4-BE49-F238E27FC236}">
                <a16:creationId xmlns:a16="http://schemas.microsoft.com/office/drawing/2014/main" id="{5987F6C0-62D3-31C1-E682-07DE0F2FC4F1}"/>
              </a:ext>
            </a:extLst>
          </p:cNvPr>
          <p:cNvSpPr txBox="1"/>
          <p:nvPr/>
        </p:nvSpPr>
        <p:spPr>
          <a:xfrm>
            <a:off x="6095998" y="0"/>
            <a:ext cx="6095998" cy="6858000"/>
          </a:xfrm>
          <a:prstGeom prst="rect">
            <a:avLst/>
          </a:prstGeom>
          <a:noFill/>
        </p:spPr>
        <p:txBody>
          <a:bodyPr wrap="square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+mn-ea"/>
                <a:cs typeface="+mn-cs"/>
                <a:sym typeface="Times New Roman"/>
              </a:rPr>
              <a:t>now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And now let the weak say,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 "I am strong"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Let the poor say, "I am rich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20000"/>
                    <a:lumOff val="80000"/>
                  </a:srgbClr>
                </a:solidFill>
                <a:effectLst/>
                <a:uLnTx/>
                <a:uFillTx/>
                <a:latin typeface="Nunito Semi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Times New Roman"/>
              </a:rPr>
              <a:t>Because of what the Lord has done for us"</a:t>
            </a:r>
          </a:p>
        </p:txBody>
      </p:sp>
    </p:spTree>
    <p:extLst>
      <p:ext uri="{BB962C8B-B14F-4D97-AF65-F5344CB8AC3E}">
        <p14:creationId xmlns:p14="http://schemas.microsoft.com/office/powerpoint/2010/main" val="3080763491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63969" y="1796969"/>
            <a:ext cx="3264061" cy="3264061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849</TotalTime>
  <Words>327</Words>
  <Application>Microsoft Macintosh PowerPoint</Application>
  <PresentationFormat>Widescreen</PresentationFormat>
  <Paragraphs>59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Aptos Display</vt:lpstr>
      <vt:lpstr>Nunito SemiBold</vt:lpstr>
      <vt:lpstr>Aptos</vt:lpstr>
      <vt:lpstr>Calibri</vt:lpstr>
      <vt:lpstr>Nunito ExtraBold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26</cp:revision>
  <dcterms:created xsi:type="dcterms:W3CDTF">2024-05-26T16:18:45Z</dcterms:created>
  <dcterms:modified xsi:type="dcterms:W3CDTF">2026-04-06T06:59:07Z</dcterms:modified>
  <cp:category/>
</cp:coreProperties>
</file>